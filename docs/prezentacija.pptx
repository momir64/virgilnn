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1" r:id="rId3"/>
    <p:sldId id="275" r:id="rId4"/>
    <p:sldId id="277" r:id="rId5"/>
    <p:sldId id="276" r:id="rId6"/>
    <p:sldId id="278" r:id="rId7"/>
    <p:sldId id="279" r:id="rId8"/>
    <p:sldId id="280" r:id="rId9"/>
    <p:sldId id="286" r:id="rId10"/>
    <p:sldId id="281" r:id="rId11"/>
    <p:sldId id="287" r:id="rId12"/>
    <p:sldId id="285" r:id="rId13"/>
    <p:sldId id="288" r:id="rId14"/>
    <p:sldId id="284" r:id="rId15"/>
    <p:sldId id="290" r:id="rId16"/>
    <p:sldId id="291" r:id="rId17"/>
    <p:sldId id="293" r:id="rId18"/>
    <p:sldId id="294" r:id="rId19"/>
    <p:sldId id="295" r:id="rId20"/>
    <p:sldId id="298" r:id="rId21"/>
    <p:sldId id="297" r:id="rId22"/>
    <p:sldId id="299" r:id="rId2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886" autoAdjust="0"/>
  </p:normalViewPr>
  <p:slideViewPr>
    <p:cSldViewPr>
      <p:cViewPr varScale="1">
        <p:scale>
          <a:sx n="114" d="100"/>
          <a:sy n="114" d="100"/>
        </p:scale>
        <p:origin x="672" y="101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10/17/2025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10/17/2025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 descr="Map of World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10/17/2025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cap="none" noProof="0" dirty="0" err="1">
                <a:latin typeface="Roboto Condensed" panose="02000000000000000000" pitchFamily="2" charset="0"/>
                <a:ea typeface="Roboto Condensed" panose="02000000000000000000" pitchFamily="2" charset="0"/>
                <a:cs typeface="Noto Sans" panose="020B0502040504020204" pitchFamily="34" charset="0"/>
              </a:rPr>
              <a:t>VirgilNN</a:t>
            </a:r>
            <a:r>
              <a:rPr lang="en-US" sz="3200" cap="none" noProof="0" dirty="0">
                <a:latin typeface="Roboto Condensed" panose="02000000000000000000" pitchFamily="2" charset="0"/>
                <a:ea typeface="Roboto Condensed" panose="02000000000000000000" pitchFamily="2" charset="0"/>
                <a:cs typeface="Noto Sans" panose="020B0502040504020204" pitchFamily="34" charset="0"/>
              </a:rPr>
              <a:t>: Vision-based Image Recognition Geocoder for Identifying Locations using a Neural Network </a:t>
            </a:r>
            <a:endParaRPr lang="en-US" sz="32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0"/>
              <a:t>Luka Bursać 	SV22/2022</a:t>
            </a:r>
          </a:p>
          <a:p>
            <a:r>
              <a:rPr lang="sr-Latn-RS" noProof="0" dirty="0"/>
              <a:t>Momir Stanišić 	SV39/2022</a:t>
            </a:r>
          </a:p>
        </p:txBody>
      </p:sp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/>
          <a:lstStyle/>
          <a:p>
            <a:r>
              <a:rPr lang="sr-Latn-RS" cap="none" noProof="0" dirty="0"/>
              <a:t>Opis problema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A6EAF-368B-58E7-75D0-A8AB1EC6B912}"/>
              </a:ext>
            </a:extLst>
          </p:cNvPr>
          <p:cNvGrpSpPr/>
          <p:nvPr/>
        </p:nvGrpSpPr>
        <p:grpSpPr>
          <a:xfrm>
            <a:off x="693811" y="1628800"/>
            <a:ext cx="5008004" cy="1296806"/>
            <a:chOff x="693812" y="1772154"/>
            <a:chExt cx="5008004" cy="12968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E2B4BC-DEDD-36C7-578F-D0FD5A627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912" y="1772154"/>
              <a:ext cx="931604" cy="129614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CC3AE-6DA2-5ECF-B460-1D4A70E5E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2012" y="1772154"/>
              <a:ext cx="931604" cy="12961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17C7B1B-7EAF-39CB-3BDC-600071FE8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1112" y="1772154"/>
              <a:ext cx="931604" cy="129614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831EDF-69F5-DBFE-C779-503BDEC54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212" y="1772154"/>
              <a:ext cx="931604" cy="129614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E18AA05-7484-3ADC-C7E8-E4A26268F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812" y="1772816"/>
              <a:ext cx="931604" cy="129614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177574-DBBA-B3C5-2438-D20AC7DFF588}"/>
              </a:ext>
            </a:extLst>
          </p:cNvPr>
          <p:cNvGrpSpPr/>
          <p:nvPr/>
        </p:nvGrpSpPr>
        <p:grpSpPr>
          <a:xfrm>
            <a:off x="693811" y="3211985"/>
            <a:ext cx="5008000" cy="1297136"/>
            <a:chOff x="693812" y="3355339"/>
            <a:chExt cx="5008000" cy="129713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E36C88F-54DC-F385-1810-ABAC4F008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209" y="3355339"/>
              <a:ext cx="931603" cy="12961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063CF90-E21E-C74E-828B-BF422B664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812" y="3356330"/>
              <a:ext cx="931603" cy="129614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77BA8C-5242-B46D-3003-878A3C611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912" y="3356330"/>
              <a:ext cx="931603" cy="129614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6BC6B3A-E24E-EAC7-6A48-385A24EAD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2012" y="3356330"/>
              <a:ext cx="931603" cy="129614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6AF765A-C703-3FE4-CC9C-ADF9875A0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1112" y="3356331"/>
              <a:ext cx="931604" cy="1296144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5DEAD14-0652-A78A-C327-D3E7181BE1B4}"/>
              </a:ext>
            </a:extLst>
          </p:cNvPr>
          <p:cNvGrpSpPr/>
          <p:nvPr/>
        </p:nvGrpSpPr>
        <p:grpSpPr>
          <a:xfrm>
            <a:off x="695308" y="4795205"/>
            <a:ext cx="5006504" cy="1301752"/>
            <a:chOff x="695309" y="4938559"/>
            <a:chExt cx="5006504" cy="1301752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EEBCB54-C5AF-99ED-793D-096F0795B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1112" y="4944167"/>
              <a:ext cx="931604" cy="1296144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AC4033-A15F-ABDC-C8C4-B950EEE46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209" y="4938559"/>
              <a:ext cx="931604" cy="1296144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BDB2693-B04F-3906-0874-3D4B07426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309" y="4944167"/>
              <a:ext cx="931604" cy="1296144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FCA792D-89F2-C986-B3DD-DB8BF01F5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2912" y="4944167"/>
              <a:ext cx="931604" cy="129614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593ACF0-0A9E-63D5-FD0F-D8A4128BA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0515" y="4944167"/>
              <a:ext cx="931604" cy="1296144"/>
            </a:xfrm>
            <a:prstGeom prst="rect">
              <a:avLst/>
            </a:prstGeom>
          </p:spPr>
        </p:pic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00824339-7DE6-D79A-E975-4BE603178423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1323742"/>
            <a:ext cx="4974836" cy="5057586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61225507-433D-D498-5303-0DF15165BA59}"/>
              </a:ext>
            </a:extLst>
          </p:cNvPr>
          <p:cNvSpPr/>
          <p:nvPr/>
        </p:nvSpPr>
        <p:spPr>
          <a:xfrm>
            <a:off x="7472055" y="5365208"/>
            <a:ext cx="72008" cy="720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sz="2400" noProof="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1D6A8D-6011-DA0E-6C9D-B7A82783918A}"/>
              </a:ext>
            </a:extLst>
          </p:cNvPr>
          <p:cNvSpPr/>
          <p:nvPr/>
        </p:nvSpPr>
        <p:spPr>
          <a:xfrm>
            <a:off x="9766820" y="2276872"/>
            <a:ext cx="72008" cy="720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sz="240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78073E9-D1F3-B6D6-C5E7-0AD55C0110EB}"/>
              </a:ext>
            </a:extLst>
          </p:cNvPr>
          <p:cNvSpPr/>
          <p:nvPr/>
        </p:nvSpPr>
        <p:spPr>
          <a:xfrm>
            <a:off x="9821397" y="3769239"/>
            <a:ext cx="72008" cy="720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sz="2400" noProof="0" dirty="0"/>
          </a:p>
        </p:txBody>
      </p:sp>
    </p:spTree>
    <p:extLst>
      <p:ext uri="{BB962C8B-B14F-4D97-AF65-F5344CB8AC3E}">
        <p14:creationId xmlns:p14="http://schemas.microsoft.com/office/powerpoint/2010/main" val="293697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03CD-CEC0-9A5D-74CF-0EF1EB09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20503-F77D-ECEA-3793-50E5966A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Modelovanje problema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131725-3DD6-3501-D69F-DE8446763D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23" y="1312542"/>
            <a:ext cx="5184578" cy="527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3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B474-8A3F-E2EB-4A87-A99FB674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ADA6-872A-7F72-A235-223F9A33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Modelovanje problema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294B40-2F80-36B2-AF4A-92ACEB84B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920" y="2420888"/>
            <a:ext cx="965698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6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A3F0-95B8-B257-51D7-CF691C68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9D0D-D804-3622-0D60-E23C470D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Veličina skupa podataka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1AE21-2151-3738-F507-5D1B5D5AF2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23" y="1312542"/>
            <a:ext cx="5184578" cy="527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6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24D1-418A-145E-99C6-49369AAB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4DBD-9433-A37A-06AD-75DEB258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Metodologija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7F82C-1717-6D15-9351-70395473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97" y="1916832"/>
            <a:ext cx="9386135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1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65D3-DC3D-7D6D-5DAB-30498FE4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BC0C-37D6-1491-22C5-F9BC1BCC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Rana integracija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CD20B-BB9B-6556-7DFC-BF30AE3C1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0" y="2248283"/>
            <a:ext cx="10657184" cy="296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6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34D9-AB51-9CB3-2EFC-12965B8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C170-ED8D-F40B-0A33-F0C292DD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Rana integracija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6A610-B490-F4FA-381F-21021C27E05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52" y="1372972"/>
            <a:ext cx="648072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7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5361-18B6-7819-5D28-14C4E7CF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25F8-2E3B-1160-4447-47A5DC903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Rezultati klasifikacije rane integracije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25AB5-F2E0-C97F-75F8-A81458CA90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71" y="1484784"/>
            <a:ext cx="4984432" cy="4820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D240EE-2CBD-F098-6913-7652AD2903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0" y="1772816"/>
            <a:ext cx="5465134" cy="449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5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DCAF-E0AC-7400-E726-987ECDD3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A29D-1387-6B97-77F8-244768BB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Rezultati rane integracije po regijama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06EB3-E56C-34EB-2134-A6DF3492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1532110"/>
            <a:ext cx="4283085" cy="4853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0CE733-7B56-83BC-73D0-0D9A391CEC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857" y="1532109"/>
            <a:ext cx="4283085" cy="485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0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CA1FA-97DE-743A-A688-AF25D13C5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DCB4-B5D7-230A-462E-ED3F3D0A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Rezultati </a:t>
            </a:r>
            <a:r>
              <a:rPr lang="sr-Latn-RS" cap="none" dirty="0"/>
              <a:t>regresije </a:t>
            </a:r>
            <a:r>
              <a:rPr lang="sr-Latn-RS" cap="none" noProof="0" dirty="0"/>
              <a:t>rane integracije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A1630-586A-CFB1-061E-956E8F9C7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32" y="1484784"/>
            <a:ext cx="7857760" cy="499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45FE-F6A0-1789-B91C-9CF51B15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8138A3-D82D-34A1-6AB9-36F3D261CC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858" y="1532110"/>
            <a:ext cx="4283083" cy="4853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809788-A4E2-C647-31E5-5B4B5C4074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1532110"/>
            <a:ext cx="4283084" cy="4853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5FE83C-44A6-1BCD-35F8-AF8E6BBB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dirty="0"/>
              <a:t>Rezultati rane integracije po regijama</a:t>
            </a:r>
            <a:endParaRPr lang="sr-Latn-RS" cap="none" noProof="0" dirty="0"/>
          </a:p>
        </p:txBody>
      </p:sp>
    </p:spTree>
    <p:extLst>
      <p:ext uri="{BB962C8B-B14F-4D97-AF65-F5344CB8AC3E}">
        <p14:creationId xmlns:p14="http://schemas.microsoft.com/office/powerpoint/2010/main" val="136762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65B5-4D3A-EA46-C255-EE8B9D21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623537-999D-9D3F-C0CA-1016D2EC33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64" y="1484784"/>
            <a:ext cx="7776864" cy="4979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87DE2-1089-4937-592C-F9EFA9E9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Testiranje hipoteze o regresiji</a:t>
            </a:r>
          </a:p>
        </p:txBody>
      </p:sp>
    </p:spTree>
    <p:extLst>
      <p:ext uri="{BB962C8B-B14F-4D97-AF65-F5344CB8AC3E}">
        <p14:creationId xmlns:p14="http://schemas.microsoft.com/office/powerpoint/2010/main" val="295515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E6DA-B62B-5F1D-C3BE-CCABDB77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E39962-3925-3E33-5236-FF8AB2AD65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964" y="1484784"/>
            <a:ext cx="7758623" cy="4979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CA4FCA-DA34-D42A-55FE-E72ED0E6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Testiranje hipoteze o regresiji</a:t>
            </a:r>
          </a:p>
        </p:txBody>
      </p:sp>
    </p:spTree>
    <p:extLst>
      <p:ext uri="{BB962C8B-B14F-4D97-AF65-F5344CB8AC3E}">
        <p14:creationId xmlns:p14="http://schemas.microsoft.com/office/powerpoint/2010/main" val="242862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E85E8-3EC3-4091-B171-636672CE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A9F6-A68E-0DDE-385C-CDEC4813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Srednja integracija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5C2BE-6605-A7F9-110F-8B317D99F6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571" y="2420888"/>
            <a:ext cx="1863207" cy="2592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ED3178-0703-941D-D534-5731E40FFC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564" y="2420888"/>
            <a:ext cx="1863207" cy="2592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E5D61-837A-85F4-2114-D936BC1AF6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557" y="2420888"/>
            <a:ext cx="1863207" cy="2592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4D03A6-E9A2-D944-A038-42F73C698A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5" y="2420888"/>
            <a:ext cx="1863207" cy="2592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B6803B-FBA4-A9D8-E642-FCE71B628E4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578" y="2420888"/>
            <a:ext cx="1863207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973D1-5205-2CAD-5D54-38D313E4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B1991D8-664A-884D-2A2A-BF7BE210D2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1074" y="1532109"/>
            <a:ext cx="4283085" cy="4853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00F5E3-FB47-8346-737B-D335349D36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1882" y="1532109"/>
            <a:ext cx="4283085" cy="4853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15DBFA-B996-0C24-1E9C-EE5CC037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 fontScale="90000"/>
          </a:bodyPr>
          <a:lstStyle/>
          <a:p>
            <a:r>
              <a:rPr lang="sr-Latn-RS" cap="none" noProof="0" dirty="0"/>
              <a:t>Rezultati srednje integracije po regijama</a:t>
            </a:r>
          </a:p>
        </p:txBody>
      </p:sp>
    </p:spTree>
    <p:extLst>
      <p:ext uri="{BB962C8B-B14F-4D97-AF65-F5344CB8AC3E}">
        <p14:creationId xmlns:p14="http://schemas.microsoft.com/office/powerpoint/2010/main" val="188603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64F4-B219-D3FC-E3F4-5343277F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CAD1436-95DE-6CF1-230A-CB7BF9409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6420" y="1772816"/>
            <a:ext cx="5465134" cy="4497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E217A6-FE01-1428-9232-0535ED40B8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271" y="1484784"/>
            <a:ext cx="4948515" cy="4785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34595E-5CAD-79A6-47DC-3854794F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 fontScale="90000"/>
          </a:bodyPr>
          <a:lstStyle/>
          <a:p>
            <a:r>
              <a:rPr lang="sr-Latn-RS" cap="none" noProof="0" dirty="0"/>
              <a:t>Rezultati klasifikacije </a:t>
            </a:r>
            <a:r>
              <a:rPr lang="sr-Latn-RS" cap="none" dirty="0"/>
              <a:t>srednje</a:t>
            </a:r>
            <a:r>
              <a:rPr lang="sr-Latn-RS" cap="none" noProof="0" dirty="0"/>
              <a:t> integracije</a:t>
            </a:r>
          </a:p>
        </p:txBody>
      </p:sp>
    </p:spTree>
    <p:extLst>
      <p:ext uri="{BB962C8B-B14F-4D97-AF65-F5344CB8AC3E}">
        <p14:creationId xmlns:p14="http://schemas.microsoft.com/office/powerpoint/2010/main" val="11307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FF6D-03E7-81BC-2173-A1071A83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20026-5C34-B8C7-83AA-66664010BB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5477" y="1484783"/>
            <a:ext cx="7937814" cy="5043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40D21-C346-CC65-FBCE-B74DE04E5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rmAutofit/>
          </a:bodyPr>
          <a:lstStyle/>
          <a:p>
            <a:r>
              <a:rPr lang="sr-Latn-RS" cap="none" noProof="0" dirty="0"/>
              <a:t>Rezultati </a:t>
            </a:r>
            <a:r>
              <a:rPr lang="sr-Latn-RS" cap="none" dirty="0"/>
              <a:t>regresije srednje</a:t>
            </a:r>
            <a:r>
              <a:rPr lang="sr-Latn-RS" cap="none" noProof="0" dirty="0"/>
              <a:t> integracije</a:t>
            </a:r>
          </a:p>
        </p:txBody>
      </p:sp>
    </p:spTree>
    <p:extLst>
      <p:ext uri="{BB962C8B-B14F-4D97-AF65-F5344CB8AC3E}">
        <p14:creationId xmlns:p14="http://schemas.microsoft.com/office/powerpoint/2010/main" val="6657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69ED-8AD0-A11F-127B-F2E09F44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C3A26A-8066-0DBB-2C31-B9E5E53634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6097" y="2128500"/>
            <a:ext cx="5326569" cy="3384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090B8-ED12-2BC2-1192-2727F3EC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94122"/>
          </a:xfrm>
        </p:spPr>
        <p:txBody>
          <a:bodyPr>
            <a:noAutofit/>
          </a:bodyPr>
          <a:lstStyle/>
          <a:p>
            <a:r>
              <a:rPr lang="sr-Latn-RS" sz="3200" cap="none" noProof="0" dirty="0"/>
              <a:t>Entropija klasifikacije rane i srednje integracije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0E3C1-3431-1887-E434-B12B31A4B4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6" y="2132855"/>
            <a:ext cx="5326571" cy="33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2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F51E-E53E-8DE3-9CB3-BE3B9E61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cap="none" dirty="0"/>
              <a:t>Tehnički detalji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8FCC0-9522-5094-ED7F-53CFC4488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6" y="1515418"/>
            <a:ext cx="5067944" cy="5067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BF033-7DA9-FB9A-B1D8-5D097E4500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874" y="2420888"/>
            <a:ext cx="4945206" cy="239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1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4D70-3524-97F6-DB42-3EDB1490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274638"/>
            <a:ext cx="10205394" cy="1325562"/>
          </a:xfrm>
        </p:spPr>
        <p:txBody>
          <a:bodyPr/>
          <a:lstStyle/>
          <a:p>
            <a:r>
              <a:rPr lang="sr-Latn-RS" cap="none" noProof="0" dirty="0"/>
              <a:t>Dalji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93A3-8964-E0A3-0884-884AC9869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828800"/>
            <a:ext cx="10205394" cy="4343400"/>
          </a:xfrm>
        </p:spPr>
        <p:txBody>
          <a:bodyPr/>
          <a:lstStyle/>
          <a:p>
            <a:r>
              <a:rPr lang="sr-Latn-RS" noProof="0" dirty="0"/>
              <a:t>Poređenje različitih modela (</a:t>
            </a:r>
            <a:r>
              <a:rPr lang="sr-Latn-RS" noProof="0" dirty="0" err="1"/>
              <a:t>EfficientNet</a:t>
            </a:r>
            <a:r>
              <a:rPr lang="sr-Latn-RS" noProof="0" dirty="0"/>
              <a:t>)</a:t>
            </a:r>
          </a:p>
          <a:p>
            <a:r>
              <a:rPr lang="sr-Latn-RS" noProof="0" dirty="0"/>
              <a:t>Poređenje sa kasnom integracijom </a:t>
            </a:r>
            <a:br>
              <a:rPr lang="sr-Latn-RS" noProof="0" dirty="0"/>
            </a:br>
            <a:r>
              <a:rPr lang="sr-Latn-RS" noProof="0" dirty="0"/>
              <a:t>i sa predikcijom jedne slike (</a:t>
            </a:r>
            <a:r>
              <a:rPr lang="sr-Latn-RS" noProof="0" dirty="0" err="1"/>
              <a:t>DeepGeo</a:t>
            </a:r>
            <a:r>
              <a:rPr lang="sr-Latn-RS" noProof="0" dirty="0"/>
              <a:t>)</a:t>
            </a:r>
          </a:p>
          <a:p>
            <a:endParaRPr lang="sr-Latn-R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9EDBE-46E0-3EDB-94B2-13FE61DE1D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4573" y="1196752"/>
            <a:ext cx="3888432" cy="482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5709-9A61-A688-2674-15D6883E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177" y="2636912"/>
            <a:ext cx="1924470" cy="1325562"/>
          </a:xfrm>
        </p:spPr>
        <p:txBody>
          <a:bodyPr>
            <a:normAutofit/>
          </a:bodyPr>
          <a:lstStyle/>
          <a:p>
            <a:r>
              <a:rPr lang="en-US" sz="7200" noProof="0" dirty="0" err="1"/>
              <a:t>gui</a:t>
            </a:r>
            <a:endParaRPr lang="en-US" sz="7200" noProof="0" dirty="0"/>
          </a:p>
        </p:txBody>
      </p:sp>
    </p:spTree>
    <p:extLst>
      <p:ext uri="{BB962C8B-B14F-4D97-AF65-F5344CB8AC3E}">
        <p14:creationId xmlns:p14="http://schemas.microsoft.com/office/powerpoint/2010/main" val="136623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1_win32_fixed.potx" id="{67E1CE12-4E7F-4E00-8450-70E8A44C0BA6}" vid="{5B359CD9-B23F-44EB-BBF8-9808683E469B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529</TotalTime>
  <Words>106</Words>
  <Application>Microsoft Office PowerPoint</Application>
  <PresentationFormat>Custom</PresentationFormat>
  <Paragraphs>26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Roboto Condensed</vt:lpstr>
      <vt:lpstr>World Presentation 16x9</vt:lpstr>
      <vt:lpstr>VirgilNN: Vision-based Image Recognition Geocoder for Identifying Locations using a Neural Network </vt:lpstr>
      <vt:lpstr>Opis problema</vt:lpstr>
      <vt:lpstr>Modelovanje problema</vt:lpstr>
      <vt:lpstr>Modelovanje problema</vt:lpstr>
      <vt:lpstr>Veličina skupa podataka</vt:lpstr>
      <vt:lpstr>Metodologija</vt:lpstr>
      <vt:lpstr>Rana integracija</vt:lpstr>
      <vt:lpstr>Rana integracija</vt:lpstr>
      <vt:lpstr>Rezultati klasifikacije rane integracije</vt:lpstr>
      <vt:lpstr>Rezultati rane integracije po regijama</vt:lpstr>
      <vt:lpstr>Rezultati regresije rane integracije</vt:lpstr>
      <vt:lpstr>Rezultati rane integracije po regijama</vt:lpstr>
      <vt:lpstr>Testiranje hipoteze o regresiji</vt:lpstr>
      <vt:lpstr>Testiranje hipoteze o regresiji</vt:lpstr>
      <vt:lpstr>Srednja integracija</vt:lpstr>
      <vt:lpstr>Rezultati srednje integracije po regijama</vt:lpstr>
      <vt:lpstr>Rezultati klasifikacije srednje integracije</vt:lpstr>
      <vt:lpstr>Rezultati regresije srednje integracije</vt:lpstr>
      <vt:lpstr>Entropija klasifikacije rane i srednje integracije</vt:lpstr>
      <vt:lpstr>Tehnički detalji</vt:lpstr>
      <vt:lpstr>Dalji rad</vt:lpstr>
      <vt:lpstr>gui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6</cp:revision>
  <dcterms:created xsi:type="dcterms:W3CDTF">2025-10-17T20:29:28Z</dcterms:created>
  <dcterms:modified xsi:type="dcterms:W3CDTF">2025-10-18T05:19:12Z</dcterms:modified>
</cp:coreProperties>
</file>